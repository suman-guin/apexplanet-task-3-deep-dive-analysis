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6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4E8C"/>
              </a:solidFill>
              <a:effectLst/>
            </c:spPr>
          </c:dPt>
          <c:dPt>
            <c:idx val="1"/>
            <c:bubble3D val="0"/>
            <c:spPr>
              <a:solidFill>
                <a:srgbClr val="5B8FD0"/>
              </a:solidFill>
              <a:effectLst/>
            </c:spPr>
          </c:dPt>
          <c:dPt>
            <c:idx val="2"/>
            <c:bubble3D val="0"/>
            <c:spPr>
              <a:solidFill>
                <a:srgbClr val="AAC4E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High Value</c:v>
                </c:pt>
                <c:pt idx="1">
                  <c:v>Medium Value</c:v>
                </c:pt>
                <c:pt idx="2">
                  <c:v>Low Value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237</c:v>
                </c:pt>
                <c:pt idx="1">
                  <c:v>473</c:v>
                </c:pt>
                <c:pt idx="2">
                  <c:v>237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solidFill>
              <a:srgbClr val="1F4E8C"/>
            </a:solidFill>
            <a:effectLst/>
          </c:spPr>
          <c:invertIfNegative val="0"/>
          <c:dLbls>
            <c:numFmt formatCode="#,##0.00,,&quot;M&quot;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4E8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8FD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AC4E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High Value</c:v>
                  </c:pt>
                  <c:pt idx="1">
                    <c:v>Medium Value</c:v>
                  </c:pt>
                  <c:pt idx="2">
                    <c:v>Low Value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77048925.29</c:v>
                </c:pt>
                <c:pt idx="1">
                  <c:v>56722617.47</c:v>
                </c:pt>
                <c:pt idx="2">
                  <c:v>5627896.89</c:v>
                </c:pt>
              </c:numCache>
            </c:numRef>
          </c:val>
        </c:ser>
        <c:dLbls>
          <c:numFmt formatCode="#,##0.00,,&quot;M&quot;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0000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solidFill>
              <a:srgbClr val="1F4E8C"/>
            </a:solidFill>
            <a:ln w="25400" cap="flat">
              <a:solidFill>
                <a:srgbClr val="1F4E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F4E8C"/>
              </a:solidFill>
              <a:ln w="9525" cap="flat">
                <a:solidFill>
                  <a:srgbClr val="1F4E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Jan '25</c:v>
                  </c:pt>
                  <c:pt idx="1">
                    <c:v>Feb '25</c:v>
                  </c:pt>
                  <c:pt idx="2">
                    <c:v>Mar '25</c:v>
                  </c:pt>
                  <c:pt idx="3">
                    <c:v>Apr '25</c:v>
                  </c:pt>
                  <c:pt idx="4">
                    <c:v>May '25</c:v>
                  </c:pt>
                  <c:pt idx="5">
                    <c:v>Jun '25</c:v>
                  </c:pt>
                  <c:pt idx="6">
                    <c:v>Jul '25</c:v>
                  </c:pt>
                  <c:pt idx="7">
                    <c:v>Aug '25</c:v>
                  </c:pt>
                  <c:pt idx="8">
                    <c:v>Sep '25</c:v>
                  </c:pt>
                  <c:pt idx="9">
                    <c:v>Oct '25</c:v>
                  </c:pt>
                  <c:pt idx="10">
                    <c:v>Nov '25</c:v>
                  </c:pt>
                  <c:pt idx="11">
                    <c:v>Dec '25</c:v>
                  </c:pt>
                  <c:pt idx="12">
                    <c:v>Jan '26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10096190.73</c:v>
                </c:pt>
                <c:pt idx="1">
                  <c:v>11511181.46</c:v>
                </c:pt>
                <c:pt idx="2">
                  <c:v>13059899.94</c:v>
                </c:pt>
                <c:pt idx="3">
                  <c:v>12222700.17</c:v>
                </c:pt>
                <c:pt idx="4">
                  <c:v>10984689.25</c:v>
                </c:pt>
                <c:pt idx="5">
                  <c:v>12912332.64</c:v>
                </c:pt>
                <c:pt idx="6">
                  <c:v>11746226.8</c:v>
                </c:pt>
                <c:pt idx="7">
                  <c:v>9448471.22</c:v>
                </c:pt>
                <c:pt idx="8">
                  <c:v>9179896.29</c:v>
                </c:pt>
                <c:pt idx="9">
                  <c:v>12500936.5</c:v>
                </c:pt>
                <c:pt idx="10">
                  <c:v>12627620.22</c:v>
                </c:pt>
                <c:pt idx="11">
                  <c:v>12299904.44</c:v>
                </c:pt>
                <c:pt idx="12">
                  <c:v>809389.99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3E9F1"/>
              </a:solidFill>
              <a:prstDash val="solid"/>
              <a:round/>
            </a:ln>
          </c:spPr>
        </c:majorGridlines>
        <c:numFmt formatCode="#,##0.0,,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by Category, millions (Electronics: 36.43%)</c:v>
                </c:pt>
              </c:strCache>
            </c:strRef>
          </c:tx>
          <c:spPr>
            <a:solidFill>
              <a:srgbClr val="E08A1E"/>
            </a:solidFill>
            <a:effectLst/>
          </c:spPr>
          <c:invertIfNegative val="0"/>
          <c:dLbls>
            <c:numFmt formatCode="#,##0.00,,&quot;M&quot;" sourceLinked="0"/>
            <c:txPr>
              <a:bodyPr/>
              <a:lstStyle/>
              <a:p>
                <a:pPr>
                  <a:defRPr b="1" i="0" strike="noStrike" sz="7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08A1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8FD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8FD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B8FD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B8FD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Electronics</c:v>
                  </c:pt>
                  <c:pt idx="1">
                    <c:v>Education</c:v>
                  </c:pt>
                  <c:pt idx="2">
                    <c:v>Grocery</c:v>
                  </c:pt>
                  <c:pt idx="3">
                    <c:v>Furniture</c:v>
                  </c:pt>
                  <c:pt idx="4">
                    <c:v>Fashion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50778581.7</c:v>
                </c:pt>
                <c:pt idx="1">
                  <c:v>25031689.4</c:v>
                </c:pt>
                <c:pt idx="2">
                  <c:v>22231711.28</c:v>
                </c:pt>
                <c:pt idx="3">
                  <c:v>21521561.48</c:v>
                </c:pt>
                <c:pt idx="4">
                  <c:v>19835895.79</c:v>
                </c:pt>
              </c:numCache>
            </c:numRef>
          </c:val>
        </c:ser>
        <c:dLbls>
          <c:numFmt formatCode="#,##0.00,,&quot;M&quot;" sourceLinked="0"/>
          <c:txPr>
            <a:bodyPr/>
            <a:lstStyle/>
            <a:p>
              <a:pPr>
                <a:defRPr b="1" i="0" strike="noStrike" sz="7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1794153.33400001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by Product, millions (High to Low)</c:v>
                </c:pt>
              </c:strCache>
            </c:strRef>
          </c:tx>
          <c:spPr>
            <a:solidFill>
              <a:srgbClr val="5B8FD0"/>
            </a:solidFill>
            <a:effectLst/>
          </c:spPr>
          <c:invertIfNegative val="0"/>
          <c:dLbls>
            <c:numFmt formatCode="#,##0.00,,&quot;M&quot;" sourceLinked="0"/>
            <c:txPr>
              <a:bodyPr/>
              <a:lstStyle/>
              <a:p>
                <a:pPr>
                  <a:defRPr b="1" i="0" strike="noStrike" sz="7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Laptop</c:v>
                  </c:pt>
                  <c:pt idx="1">
                    <c:v>Mobile</c:v>
                  </c:pt>
                  <c:pt idx="2">
                    <c:v>Book</c:v>
                  </c:pt>
                  <c:pt idx="3">
                    <c:v>Rice</c:v>
                  </c:pt>
                  <c:pt idx="4">
                    <c:v>Chair</c:v>
                  </c:pt>
                  <c:pt idx="5">
                    <c:v>Shoes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25443008.51</c:v>
                </c:pt>
                <c:pt idx="1">
                  <c:v>25335573.19</c:v>
                </c:pt>
                <c:pt idx="2">
                  <c:v>25031689.4</c:v>
                </c:pt>
                <c:pt idx="3">
                  <c:v>22231711.28</c:v>
                </c:pt>
                <c:pt idx="4">
                  <c:v>21521561.48</c:v>
                </c:pt>
                <c:pt idx="5">
                  <c:v>19835895.79</c:v>
                </c:pt>
              </c:numCache>
            </c:numRef>
          </c:val>
        </c:ser>
        <c:dLbls>
          <c:numFmt formatCode="#,##0.00,,&quot;M&quot;" sourceLinked="0"/>
          <c:txPr>
            <a:bodyPr/>
            <a:lstStyle/>
            <a:p>
              <a:pPr>
                <a:defRPr b="1" i="0" strike="noStrike" sz="7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951868.680200003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 %</c:v>
                </c:pt>
              </c:strCache>
            </c:strRef>
          </c:tx>
          <c:spPr>
            <a:solidFill>
              <a:srgbClr val="AAC4E6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High Value</c:v>
                  </c:pt>
                  <c:pt idx="1">
                    <c:v>Medium Value</c:v>
                  </c:pt>
                  <c:pt idx="2">
                    <c:v>Low Value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25.03</c:v>
                </c:pt>
                <c:pt idx="1">
                  <c:v>49.95</c:v>
                </c:pt>
                <c:pt idx="2">
                  <c:v>25.03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Sales contribution %</c:v>
                </c:pt>
              </c:strCache>
            </c:strRef>
          </c:tx>
          <c:spPr>
            <a:solidFill>
              <a:srgbClr val="1F4E8C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High Value</c:v>
                  </c:pt>
                  <c:pt idx="1">
                    <c:v>Medium Value</c:v>
                  </c:pt>
                  <c:pt idx="2">
                    <c:v>Low Value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55.27</c:v>
                </c:pt>
                <c:pt idx="1">
                  <c:v>40.69</c:v>
                </c:pt>
                <c:pt idx="2">
                  <c:v>4.04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Sales (green = highest full month, red = lowest full month, orange = partial period)</c:v>
                </c:pt>
              </c:strCache>
            </c:strRef>
          </c:tx>
          <c:spPr>
            <a:solidFill>
              <a:srgbClr val="1F4E8C"/>
            </a:solidFill>
            <a:effectLst/>
          </c:spPr>
          <c:invertIfNegative val="0"/>
          <c:dLbls>
            <c:numFmt formatCode="#,##0,&quot;K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C2A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4E8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4E8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8A4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F4E8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F4E8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F4E8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F4E8C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F4E8C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F4E8C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1F4E8C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1F4E8C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E08A1E"/>
              </a:solidFill>
              <a:effectLst/>
            </c:spPr>
          </c:dPt>
          <c:cat>
            <c:multiLvlStrRef>
              <c:f>Sheet1!$A$2:$A$14</c:f>
              <c:multiLvlStrCache>
                <c:ptCount val="13"/>
                <c:lvl>
                  <c:pt idx="0">
                    <c:v>Jan '25</c:v>
                  </c:pt>
                  <c:pt idx="1">
                    <c:v>Feb '25</c:v>
                  </c:pt>
                  <c:pt idx="2">
                    <c:v>Mar '25</c:v>
                  </c:pt>
                  <c:pt idx="3">
                    <c:v>Apr '25</c:v>
                  </c:pt>
                  <c:pt idx="4">
                    <c:v>May '25</c:v>
                  </c:pt>
                  <c:pt idx="5">
                    <c:v>Jun '25</c:v>
                  </c:pt>
                  <c:pt idx="6">
                    <c:v>Jul '25</c:v>
                  </c:pt>
                  <c:pt idx="7">
                    <c:v>Aug '25</c:v>
                  </c:pt>
                  <c:pt idx="8">
                    <c:v>Sep '25</c:v>
                  </c:pt>
                  <c:pt idx="9">
                    <c:v>Oct '25</c:v>
                  </c:pt>
                  <c:pt idx="10">
                    <c:v>Nov '25</c:v>
                  </c:pt>
                  <c:pt idx="11">
                    <c:v>Dec '25</c:v>
                  </c:pt>
                  <c:pt idx="12">
                    <c:v>Jan '26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10096190.73</c:v>
                </c:pt>
                <c:pt idx="1">
                  <c:v>11511181.46</c:v>
                </c:pt>
                <c:pt idx="2">
                  <c:v>13059899.94</c:v>
                </c:pt>
                <c:pt idx="3">
                  <c:v>12222700.17</c:v>
                </c:pt>
                <c:pt idx="4">
                  <c:v>10984689.25</c:v>
                </c:pt>
                <c:pt idx="5">
                  <c:v>12912332.64</c:v>
                </c:pt>
                <c:pt idx="6">
                  <c:v>11746226.8</c:v>
                </c:pt>
                <c:pt idx="7">
                  <c:v>9448471.22</c:v>
                </c:pt>
                <c:pt idx="8">
                  <c:v>9179896.29</c:v>
                </c:pt>
                <c:pt idx="9">
                  <c:v>12500936.5</c:v>
                </c:pt>
                <c:pt idx="10">
                  <c:v>12627620.22</c:v>
                </c:pt>
                <c:pt idx="11">
                  <c:v>12299904.44</c:v>
                </c:pt>
                <c:pt idx="12">
                  <c:v>809389.99</c:v>
                </c:pt>
              </c:numCache>
            </c:numRef>
          </c:val>
        </c:ser>
        <c:dLbls>
          <c:numFmt formatCode="#,##0,&quot;K&quot;" sourceLinked="0"/>
          <c:txPr>
            <a:bodyPr/>
            <a:lstStyle/>
            <a:p>
              <a:pPr>
                <a:defRPr b="0" i="0" strike="noStrike" sz="800" u="none">
                  <a:solidFill>
                    <a:srgbClr val="1C2A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 Value</c:v>
                </c:pt>
              </c:strCache>
            </c:strRef>
          </c:tx>
          <c:spPr>
            <a:solidFill>
              <a:srgbClr val="1F4E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Jan '25</c:v>
                  </c:pt>
                  <c:pt idx="1">
                    <c:v>Feb '25</c:v>
                  </c:pt>
                  <c:pt idx="2">
                    <c:v>Mar '25</c:v>
                  </c:pt>
                  <c:pt idx="3">
                    <c:v>Apr '25</c:v>
                  </c:pt>
                  <c:pt idx="4">
                    <c:v>May '25</c:v>
                  </c:pt>
                  <c:pt idx="5">
                    <c:v>Jun '25</c:v>
                  </c:pt>
                  <c:pt idx="6">
                    <c:v>Jul '25</c:v>
                  </c:pt>
                  <c:pt idx="7">
                    <c:v>Aug '25</c:v>
                  </c:pt>
                  <c:pt idx="8">
                    <c:v>Sep '25</c:v>
                  </c:pt>
                  <c:pt idx="9">
                    <c:v>Oct '25</c:v>
                  </c:pt>
                  <c:pt idx="10">
                    <c:v>Nov '25</c:v>
                  </c:pt>
                  <c:pt idx="11">
                    <c:v>Dec '25</c:v>
                  </c:pt>
                  <c:pt idx="12">
                    <c:v>Jan '26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5309683.78</c:v>
                </c:pt>
                <c:pt idx="1">
                  <c:v>5326018.91</c:v>
                </c:pt>
                <c:pt idx="2">
                  <c:v>7065641.55</c:v>
                </c:pt>
                <c:pt idx="3">
                  <c:v>6636151.35</c:v>
                </c:pt>
                <c:pt idx="4">
                  <c:v>6726954.6</c:v>
                </c:pt>
                <c:pt idx="5">
                  <c:v>7911378.6</c:v>
                </c:pt>
                <c:pt idx="6">
                  <c:v>6318511.65</c:v>
                </c:pt>
                <c:pt idx="7">
                  <c:v>4382827.5</c:v>
                </c:pt>
                <c:pt idx="8">
                  <c:v>4096886.12</c:v>
                </c:pt>
                <c:pt idx="9">
                  <c:v>8144736.85</c:v>
                </c:pt>
                <c:pt idx="10">
                  <c:v>8311632.06</c:v>
                </c:pt>
                <c:pt idx="11">
                  <c:v>6435481.45</c:v>
                </c:pt>
                <c:pt idx="12">
                  <c:v>383020.87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Medium Value</c:v>
                </c:pt>
              </c:strCache>
            </c:strRef>
          </c:tx>
          <c:spPr>
            <a:solidFill>
              <a:srgbClr val="5B8FD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Jan '25</c:v>
                  </c:pt>
                  <c:pt idx="1">
                    <c:v>Feb '25</c:v>
                  </c:pt>
                  <c:pt idx="2">
                    <c:v>Mar '25</c:v>
                  </c:pt>
                  <c:pt idx="3">
                    <c:v>Apr '25</c:v>
                  </c:pt>
                  <c:pt idx="4">
                    <c:v>May '25</c:v>
                  </c:pt>
                  <c:pt idx="5">
                    <c:v>Jun '25</c:v>
                  </c:pt>
                  <c:pt idx="6">
                    <c:v>Jul '25</c:v>
                  </c:pt>
                  <c:pt idx="7">
                    <c:v>Aug '25</c:v>
                  </c:pt>
                  <c:pt idx="8">
                    <c:v>Sep '25</c:v>
                  </c:pt>
                  <c:pt idx="9">
                    <c:v>Oct '25</c:v>
                  </c:pt>
                  <c:pt idx="10">
                    <c:v>Nov '25</c:v>
                  </c:pt>
                  <c:pt idx="11">
                    <c:v>Dec '25</c:v>
                  </c:pt>
                  <c:pt idx="12">
                    <c:v>Jan '26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4322932.68</c:v>
                </c:pt>
                <c:pt idx="1">
                  <c:v>5497525.11</c:v>
                </c:pt>
                <c:pt idx="2">
                  <c:v>5516185.04</c:v>
                </c:pt>
                <c:pt idx="3">
                  <c:v>5365226.98</c:v>
                </c:pt>
                <c:pt idx="4">
                  <c:v>3683938.65</c:v>
                </c:pt>
                <c:pt idx="5">
                  <c:v>4574474.88</c:v>
                </c:pt>
                <c:pt idx="6">
                  <c:v>4957018.87</c:v>
                </c:pt>
                <c:pt idx="7">
                  <c:v>4603387.76</c:v>
                </c:pt>
                <c:pt idx="8">
                  <c:v>4459700.04</c:v>
                </c:pt>
                <c:pt idx="9">
                  <c:v>4031811.58</c:v>
                </c:pt>
                <c:pt idx="10">
                  <c:v>4014400.42</c:v>
                </c:pt>
                <c:pt idx="11">
                  <c:v>5269646.34</c:v>
                </c:pt>
                <c:pt idx="12">
                  <c:v>426369.12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 Value</c:v>
                </c:pt>
              </c:strCache>
            </c:strRef>
          </c:tx>
          <c:spPr>
            <a:solidFill>
              <a:srgbClr val="AAC4E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Jan '25</c:v>
                  </c:pt>
                  <c:pt idx="1">
                    <c:v>Feb '25</c:v>
                  </c:pt>
                  <c:pt idx="2">
                    <c:v>Mar '25</c:v>
                  </c:pt>
                  <c:pt idx="3">
                    <c:v>Apr '25</c:v>
                  </c:pt>
                  <c:pt idx="4">
                    <c:v>May '25</c:v>
                  </c:pt>
                  <c:pt idx="5">
                    <c:v>Jun '25</c:v>
                  </c:pt>
                  <c:pt idx="6">
                    <c:v>Jul '25</c:v>
                  </c:pt>
                  <c:pt idx="7">
                    <c:v>Aug '25</c:v>
                  </c:pt>
                  <c:pt idx="8">
                    <c:v>Sep '25</c:v>
                  </c:pt>
                  <c:pt idx="9">
                    <c:v>Oct '25</c:v>
                  </c:pt>
                  <c:pt idx="10">
                    <c:v>Nov '25</c:v>
                  </c:pt>
                  <c:pt idx="11">
                    <c:v>Dec '25</c:v>
                  </c:pt>
                  <c:pt idx="12">
                    <c:v>Jan '26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463574.27</c:v>
                </c:pt>
                <c:pt idx="1">
                  <c:v>687637.4400000001</c:v>
                </c:pt>
                <c:pt idx="2">
                  <c:v>478073.35</c:v>
                </c:pt>
                <c:pt idx="3">
                  <c:v>221321.84</c:v>
                </c:pt>
                <c:pt idx="4">
                  <c:v>573796</c:v>
                </c:pt>
                <c:pt idx="5">
                  <c:v>426479.16</c:v>
                </c:pt>
                <c:pt idx="6">
                  <c:v>470696.28</c:v>
                </c:pt>
                <c:pt idx="7">
                  <c:v>462255.96</c:v>
                </c:pt>
                <c:pt idx="8">
                  <c:v>623310.13</c:v>
                </c:pt>
                <c:pt idx="9">
                  <c:v>324388.07</c:v>
                </c:pt>
                <c:pt idx="10">
                  <c:v>301587.74</c:v>
                </c:pt>
                <c:pt idx="11">
                  <c:v>594776.65</c:v>
                </c:pt>
                <c:pt idx="1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9F1"/>
              </a:solidFill>
              <a:prstDash val="solid"/>
              <a:round/>
            </a:ln>
          </c:spPr>
        </c:majorGridlines>
        <c:numFmt formatCode="#,##0.0,,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by City (Patna highest) - millions</c:v>
                </c:pt>
              </c:strCache>
            </c:strRef>
          </c:tx>
          <c:spPr>
            <a:solidFill>
              <a:srgbClr val="E08A1E"/>
            </a:solidFill>
            <a:effectLst/>
          </c:spPr>
          <c:invertIfNegative val="0"/>
          <c:dLbls>
            <c:numFmt formatCode="#,##0.00,,&quot;M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08A1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8FD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8FD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B8FD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B8FD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5B8FD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5B8FD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5B8FD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5B8FD0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Patna</c:v>
                  </c:pt>
                  <c:pt idx="1">
                    <c:v>Kolkata</c:v>
                  </c:pt>
                  <c:pt idx="2">
                    <c:v>Bengaluru</c:v>
                  </c:pt>
                  <c:pt idx="3">
                    <c:v>Mumbai</c:v>
                  </c:pt>
                  <c:pt idx="4">
                    <c:v>Hyderabad</c:v>
                  </c:pt>
                  <c:pt idx="5">
                    <c:v>Delhi</c:v>
                  </c:pt>
                  <c:pt idx="6">
                    <c:v>Pune</c:v>
                  </c:pt>
                  <c:pt idx="7">
                    <c:v>Gaya</c:v>
                  </c:pt>
                  <c:pt idx="8">
                    <c:v>Unknown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19285966.89</c:v>
                </c:pt>
                <c:pt idx="1">
                  <c:v>18884349.57</c:v>
                </c:pt>
                <c:pt idx="2">
                  <c:v>18773574.32</c:v>
                </c:pt>
                <c:pt idx="3">
                  <c:v>18757050.17</c:v>
                </c:pt>
                <c:pt idx="4">
                  <c:v>17166766.87</c:v>
                </c:pt>
                <c:pt idx="5">
                  <c:v>16097079</c:v>
                </c:pt>
                <c:pt idx="6">
                  <c:v>14513175.9</c:v>
                </c:pt>
                <c:pt idx="7">
                  <c:v>14380859.39</c:v>
                </c:pt>
                <c:pt idx="8">
                  <c:v>1540617.54</c:v>
                </c:pt>
              </c:numCache>
            </c:numRef>
          </c:val>
        </c:ser>
        <c:dLbls>
          <c:numFmt formatCode="#,##0.00,,&quot;M&quot;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per Customer by City (Bengaluru highest)</c:v>
                </c:pt>
              </c:strCache>
            </c:strRef>
          </c:tx>
          <c:spPr>
            <a:solidFill>
              <a:srgbClr val="E08A1E"/>
            </a:solidFill>
            <a:effectLst/>
          </c:spPr>
          <c:invertIfNegative val="0"/>
          <c:dLbls>
            <c:numFmt formatCode="#,##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08A1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8FD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8FD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B8FD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B8FD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5B8FD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5B8FD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5B8FD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5B8FD0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Bengaluru</c:v>
                  </c:pt>
                  <c:pt idx="1">
                    <c:v>Pune</c:v>
                  </c:pt>
                  <c:pt idx="2">
                    <c:v>Mumbai</c:v>
                  </c:pt>
                  <c:pt idx="3">
                    <c:v>Patna</c:v>
                  </c:pt>
                  <c:pt idx="4">
                    <c:v>Kolkata</c:v>
                  </c:pt>
                  <c:pt idx="5">
                    <c:v>Hyderabad</c:v>
                  </c:pt>
                  <c:pt idx="6">
                    <c:v>Delhi</c:v>
                  </c:pt>
                  <c:pt idx="7">
                    <c:v>Gaya</c:v>
                  </c:pt>
                  <c:pt idx="8">
                    <c:v>Unknown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156446.45266666668</c:v>
                </c:pt>
                <c:pt idx="1">
                  <c:v>146597.73636363636</c:v>
                </c:pt>
                <c:pt idx="2">
                  <c:v>144285.00130769232</c:v>
                </c:pt>
                <c:pt idx="3">
                  <c:v>143925.12604477612</c:v>
                </c:pt>
                <c:pt idx="4">
                  <c:v>143063.25431818183</c:v>
                </c:pt>
                <c:pt idx="5">
                  <c:v>137334.13496</c:v>
                </c:pt>
                <c:pt idx="6">
                  <c:v>129815.15322580644</c:v>
                </c:pt>
                <c:pt idx="7">
                  <c:v>122913.32811965812</c:v>
                </c:pt>
                <c:pt idx="8">
                  <c:v>118509.04153846156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by Category - millions (Electronics highlighted)</c:v>
                </c:pt>
              </c:strCache>
            </c:strRef>
          </c:tx>
          <c:spPr>
            <a:solidFill>
              <a:srgbClr val="E08A1E"/>
            </a:solidFill>
            <a:effectLst/>
          </c:spPr>
          <c:invertIfNegative val="0"/>
          <c:dLbls>
            <c:numFmt formatCode="#,##0.00,,&quot;M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08A1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8FD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8FD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B8FD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B8FD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Electronics</c:v>
                  </c:pt>
                  <c:pt idx="1">
                    <c:v>Education</c:v>
                  </c:pt>
                  <c:pt idx="2">
                    <c:v>Grocery</c:v>
                  </c:pt>
                  <c:pt idx="3">
                    <c:v>Furniture</c:v>
                  </c:pt>
                  <c:pt idx="4">
                    <c:v>Fashion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50778581.7</c:v>
                </c:pt>
                <c:pt idx="1">
                  <c:v>25031689.4</c:v>
                </c:pt>
                <c:pt idx="2">
                  <c:v>22231711.28</c:v>
                </c:pt>
                <c:pt idx="3">
                  <c:v>21521561.48</c:v>
                </c:pt>
                <c:pt idx="4">
                  <c:v>19835895.79</c:v>
                </c:pt>
              </c:numCache>
            </c:numRef>
          </c:val>
        </c:ser>
        <c:dLbls>
          <c:numFmt formatCode="#,##0.00,,&quot;M&quot;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by Product - millions (High to Low)</c:v>
                </c:pt>
              </c:strCache>
            </c:strRef>
          </c:tx>
          <c:spPr>
            <a:solidFill>
              <a:srgbClr val="5B8FD0"/>
            </a:solidFill>
            <a:effectLst/>
          </c:spPr>
          <c:invertIfNegative val="0"/>
          <c:dLbls>
            <c:numFmt formatCode="#,##0.00,,&quot;M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Laptop</c:v>
                  </c:pt>
                  <c:pt idx="1">
                    <c:v>Mobile</c:v>
                  </c:pt>
                  <c:pt idx="2">
                    <c:v>Book</c:v>
                  </c:pt>
                  <c:pt idx="3">
                    <c:v>Rice</c:v>
                  </c:pt>
                  <c:pt idx="4">
                    <c:v>Chair</c:v>
                  </c:pt>
                  <c:pt idx="5">
                    <c:v>Shoes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25443008.51</c:v>
                </c:pt>
                <c:pt idx="1">
                  <c:v>25335573.19</c:v>
                </c:pt>
                <c:pt idx="2">
                  <c:v>25031689.4</c:v>
                </c:pt>
                <c:pt idx="3">
                  <c:v>22231711.28</c:v>
                </c:pt>
                <c:pt idx="4">
                  <c:v>21521561.48</c:v>
                </c:pt>
                <c:pt idx="5">
                  <c:v>19835895.79</c:v>
                </c:pt>
              </c:numCache>
            </c:numRef>
          </c:val>
        </c:ser>
        <c:dLbls>
          <c:numFmt formatCode="#,##0.00,,&quot;M&quot;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Static PowerPoint version of the Task 3 interactive dashboard. All figures are computed from ApexPlanet_Cleaned_Dataset.xlsx and validated against the Task 3 analysis CSV files. January 2026 is a partial period.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chart" Target="/ppt/charts/chart5.xm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chart" Target="/ppt/charts/chart1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91440"/>
            <a:ext cx="11731752" cy="566928"/>
          </a:xfrm>
          <a:prstGeom prst="roundRect">
            <a:avLst>
              <a:gd name="adj" fmla="val 9677"/>
            </a:avLst>
          </a:prstGeom>
          <a:solidFill>
            <a:srgbClr val="16355F"/>
          </a:solidFill>
          <a:ln w="12700">
            <a:solidFill>
              <a:srgbClr val="1635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DATA ANALYTICS INTERNSHIP  |  TASK 3 - DEEP-DIVE ANALYSIS</a:t>
            </a:r>
            <a:endParaRPr lang="en-US" sz="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&amp; Business Intelligence Dashboard</a:t>
            </a:r>
            <a:endParaRPr lang="en-US" sz="700" dirty="0"/>
          </a:p>
          <a:p>
            <a:pPr indent="0" marL="0">
              <a:buNone/>
            </a:pPr>
            <a:r>
              <a:rPr lang="en-US" sz="8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Value  |  Sales Performance  |  Product  |  Category  |  Geography  |  Trends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8138160" y="109728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ApexPlanet_Cleaned_Dataset.xlsx and Task 3 analysis files</a:t>
            </a:r>
            <a:endParaRPr lang="en-US" sz="700" dirty="0"/>
          </a:p>
          <a:p>
            <a:pPr algn="r" indent="0" marL="0">
              <a:buNone/>
            </a:pPr>
            <a:r>
              <a:rPr lang="en-US" sz="7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1 Jan 2025 - 1 Jan 2026 (Jan 2026 is a partial period)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228600" y="731520"/>
            <a:ext cx="22860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3E9F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320040" y="7315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91440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139,399,439.65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596896" y="731520"/>
            <a:ext cx="22860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3E9F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688336" y="7315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2688336" y="91440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947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965192" y="731520"/>
            <a:ext cx="22860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3E9F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056632" y="7315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ORDERS</a:t>
            </a:r>
            <a:endParaRPr lang="en-US" sz="700" dirty="0"/>
          </a:p>
        </p:txBody>
      </p:sp>
      <p:sp>
        <p:nvSpPr>
          <p:cNvPr id="13" name="Text 11"/>
          <p:cNvSpPr txBox="1"/>
          <p:nvPr/>
        </p:nvSpPr>
        <p:spPr>
          <a:xfrm>
            <a:off x="5056632" y="91440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992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333488" y="731520"/>
            <a:ext cx="22860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3E9F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424928" y="7315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QUANTITY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7424928" y="91440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5,435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701784" y="731520"/>
            <a:ext cx="22860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3E9F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793224" y="7315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 CUSTOMER</a:t>
            </a:r>
            <a:endParaRPr lang="en-US" sz="700" dirty="0"/>
          </a:p>
        </p:txBody>
      </p:sp>
      <p:sp>
        <p:nvSpPr>
          <p:cNvPr id="19" name="Text 17"/>
          <p:cNvSpPr txBox="1"/>
          <p:nvPr/>
        </p:nvSpPr>
        <p:spPr>
          <a:xfrm>
            <a:off x="9793224" y="91440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147,201.10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228600" y="1307592"/>
            <a:ext cx="265176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3E9F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301752" y="1335024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9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274320" y="1536192"/>
          <a:ext cx="256032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Shape 20"/>
          <p:cNvSpPr/>
          <p:nvPr/>
        </p:nvSpPr>
        <p:spPr>
          <a:xfrm>
            <a:off x="2971800" y="1307592"/>
            <a:ext cx="411480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3E9F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3044952" y="1335024"/>
            <a:ext cx="3968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Revenue Contribution by Segment (chart in millions)</a:t>
            </a:r>
            <a:endParaRPr lang="en-US" sz="950" dirty="0"/>
          </a:p>
        </p:txBody>
      </p:sp>
      <p:graphicFrame>
        <p:nvGraphicFramePr>
          <p:cNvPr id="25" name="Chart 1" descr=""/>
          <p:cNvGraphicFramePr/>
          <p:nvPr/>
        </p:nvGraphicFramePr>
        <p:xfrm>
          <a:off x="3017520" y="1508760"/>
          <a:ext cx="4023360" cy="7132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4952" y="2240280"/>
          <a:ext cx="3968496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548640"/>
                <a:gridCol w="502920"/>
                <a:gridCol w="868680"/>
                <a:gridCol w="457200"/>
                <a:gridCol w="320040"/>
                <a:gridCol w="402336"/>
              </a:tblGrid>
              <a:tr h="137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 %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Sales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%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Value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237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25.03%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77,048,925.29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b="1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55.27%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Value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473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49.95%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56,722,617.47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b="1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40.69%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245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Value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237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25.03%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5,627,896.89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b="1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4.04%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Shape 22"/>
          <p:cNvSpPr/>
          <p:nvPr/>
        </p:nvSpPr>
        <p:spPr>
          <a:xfrm>
            <a:off x="3044952" y="2825496"/>
            <a:ext cx="3968496" cy="219456"/>
          </a:xfrm>
          <a:prstGeom prst="rect">
            <a:avLst/>
          </a:prstGeom>
          <a:solidFill>
            <a:srgbClr val="FFF6E8"/>
          </a:solidFill>
          <a:ln w="12700">
            <a:solidFill>
              <a:srgbClr val="FFF6E8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3044952" y="2825496"/>
            <a:ext cx="36576" cy="219456"/>
          </a:xfrm>
          <a:prstGeom prst="rect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3108960" y="282549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pPr indent="0" marL="0">
              <a:buNone/>
            </a:pPr>
            <a:r>
              <a:rPr lang="en-US" sz="7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Value customers are about 25% of customers (237 of 947) but contribute 55.27% of total sales.</a:t>
            </a:r>
            <a:endParaRPr lang="en-US" sz="700" dirty="0"/>
          </a:p>
        </p:txBody>
      </p:sp>
      <p:sp>
        <p:nvSpPr>
          <p:cNvPr id="30" name="Shape 25"/>
          <p:cNvSpPr/>
          <p:nvPr/>
        </p:nvSpPr>
        <p:spPr>
          <a:xfrm>
            <a:off x="7178040" y="1307592"/>
            <a:ext cx="4782312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3E9F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1" name="Text 26"/>
          <p:cNvSpPr txBox="1"/>
          <p:nvPr/>
        </p:nvSpPr>
        <p:spPr>
          <a:xfrm>
            <a:off x="7251192" y="1335024"/>
            <a:ext cx="4636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Trend</a:t>
            </a:r>
            <a:endParaRPr lang="en-US" sz="950" dirty="0"/>
          </a:p>
        </p:txBody>
      </p:sp>
      <p:graphicFrame>
        <p:nvGraphicFramePr>
          <p:cNvPr id="32" name="Chart 2" descr=""/>
          <p:cNvGraphicFramePr/>
          <p:nvPr/>
        </p:nvGraphicFramePr>
        <p:xfrm>
          <a:off x="7223760" y="1508760"/>
          <a:ext cx="4690872" cy="1325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3" name="Text 27"/>
          <p:cNvSpPr txBox="1"/>
          <p:nvPr/>
        </p:nvSpPr>
        <p:spPr>
          <a:xfrm>
            <a:off x="7269480" y="28163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full month: Mar 2025 (13,059,899.94)</a:t>
            </a:r>
            <a:endParaRPr lang="en-US" sz="600" dirty="0"/>
          </a:p>
          <a:p>
            <a:pPr indent="0" marL="0">
              <a:buNone/>
            </a:pPr>
            <a:r>
              <a:rPr lang="en-US" sz="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full month: Sep 2025 (9,179,896.29)</a:t>
            </a:r>
            <a:endParaRPr lang="en-US" sz="600" dirty="0"/>
          </a:p>
          <a:p>
            <a:pPr indent="0" marL="0">
              <a:buNone/>
            </a:pPr>
            <a:r>
              <a:rPr lang="en-US" sz="600" b="1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2026 is a partial period (809,389.99), not a full month</a:t>
            </a:r>
            <a:endParaRPr lang="en-US" sz="600" dirty="0"/>
          </a:p>
        </p:txBody>
      </p:sp>
      <p:sp>
        <p:nvSpPr>
          <p:cNvPr id="34" name="Shape 28"/>
          <p:cNvSpPr/>
          <p:nvPr/>
        </p:nvSpPr>
        <p:spPr>
          <a:xfrm>
            <a:off x="228600" y="3163824"/>
            <a:ext cx="283464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E3E9F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5" name="Text 29"/>
          <p:cNvSpPr txBox="1"/>
          <p:nvPr/>
        </p:nvSpPr>
        <p:spPr>
          <a:xfrm>
            <a:off x="301752" y="3191256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Category, millions (Electronics: 36.43%)</a:t>
            </a:r>
            <a:endParaRPr lang="en-US" sz="950" dirty="0"/>
          </a:p>
        </p:txBody>
      </p:sp>
      <p:graphicFrame>
        <p:nvGraphicFramePr>
          <p:cNvPr id="36" name="Chart 3" descr=""/>
          <p:cNvGraphicFramePr/>
          <p:nvPr/>
        </p:nvGraphicFramePr>
        <p:xfrm>
          <a:off x="256032" y="3364992"/>
          <a:ext cx="2779776" cy="140817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7" name="Shape 30"/>
          <p:cNvSpPr/>
          <p:nvPr/>
        </p:nvSpPr>
        <p:spPr>
          <a:xfrm>
            <a:off x="3154680" y="3163824"/>
            <a:ext cx="283464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E3E9F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8" name="Text 31"/>
          <p:cNvSpPr txBox="1"/>
          <p:nvPr/>
        </p:nvSpPr>
        <p:spPr>
          <a:xfrm>
            <a:off x="3227832" y="3191256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Product, millions (High to Low)</a:t>
            </a:r>
            <a:endParaRPr lang="en-US" sz="950" dirty="0"/>
          </a:p>
        </p:txBody>
      </p:sp>
      <p:graphicFrame>
        <p:nvGraphicFramePr>
          <p:cNvPr id="39" name="Chart 4" descr=""/>
          <p:cNvGraphicFramePr/>
          <p:nvPr/>
        </p:nvGraphicFramePr>
        <p:xfrm>
          <a:off x="3182112" y="3364992"/>
          <a:ext cx="2779776" cy="140817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40" name="Shape 32"/>
          <p:cNvSpPr/>
          <p:nvPr/>
        </p:nvSpPr>
        <p:spPr>
          <a:xfrm>
            <a:off x="6080760" y="3163824"/>
            <a:ext cx="292608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E3E9F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41" name="Text 33"/>
          <p:cNvSpPr txBox="1"/>
          <p:nvPr/>
        </p:nvSpPr>
        <p:spPr>
          <a:xfrm>
            <a:off x="6153912" y="3191256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Performance</a:t>
            </a:r>
            <a:endParaRPr lang="en-US" sz="9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3410712"/>
          <a:ext cx="28346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85800"/>
                <a:gridCol w="365760"/>
                <a:gridCol w="685800"/>
              </a:tblGrid>
              <a:tr h="1325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Sales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Cust.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/ Cust.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1325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Patna  [top sales]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19,285,966.89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134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143,925.13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5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Kolkata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18,884,349.57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143,063.25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5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Bengaluru  [top per cust.]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18,773,574.32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156,446.45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5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18,757,050.17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144,285.00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5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17,166,766.87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137,334.13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5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Delhi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16,097,079.00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129,815.15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5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14,513,175.90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146,597.74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5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Gaya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14,380,859.39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117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122,913.33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5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1,540,617.54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118,509.04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3" name="Shape 34"/>
          <p:cNvSpPr/>
          <p:nvPr/>
        </p:nvSpPr>
        <p:spPr>
          <a:xfrm>
            <a:off x="9098280" y="3163824"/>
            <a:ext cx="2862072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E3E9F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44" name="Text 35"/>
          <p:cNvSpPr txBox="1"/>
          <p:nvPr/>
        </p:nvSpPr>
        <p:spPr>
          <a:xfrm>
            <a:off x="9171432" y="3191256"/>
            <a:ext cx="2715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x Product (Sales) - darker = higher</a:t>
            </a:r>
            <a:endParaRPr lang="en-US" sz="950" dirty="0"/>
          </a:p>
        </p:txBody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0" y="3410712"/>
          <a:ext cx="277063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749808"/>
                <a:gridCol w="749808"/>
                <a:gridCol w="722376"/>
              </a:tblGrid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13,490,462.28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6DA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10,620,090.60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88B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921,136.52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5EE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Chair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12,011,083.02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7BA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8,667,797.67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9BB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842,680.79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5EE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Laptop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15,828,557.45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79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8,584,864.35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9CB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1,029,586.71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ED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12,852,622.60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73A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11,503,691.71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0A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979,258.88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ED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13,654,685.92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6C9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7,715,683.58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A4C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861,341.78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5EE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Shoes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9,211,514.02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96B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9,630,489.56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92B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993,892.21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ED"/>
                    </a:solidFill>
                  </a:tcPr>
                </a:tc>
              </a:tr>
            </a:tbl>
          </a:graphicData>
        </a:graphic>
      </p:graphicFrame>
      <p:sp>
        <p:nvSpPr>
          <p:cNvPr id="46" name="Shape 36"/>
          <p:cNvSpPr/>
          <p:nvPr/>
        </p:nvSpPr>
        <p:spPr>
          <a:xfrm>
            <a:off x="228600" y="4882896"/>
            <a:ext cx="6903720" cy="1719072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6350">
            <a:solidFill>
              <a:srgbClr val="E3E9F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47" name="Text 37"/>
          <p:cNvSpPr txBox="1"/>
          <p:nvPr/>
        </p:nvSpPr>
        <p:spPr>
          <a:xfrm>
            <a:off x="301752" y="4910328"/>
            <a:ext cx="6757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Customers (sorted by total sales)</a:t>
            </a:r>
            <a:endParaRPr lang="en-US" sz="950" dirty="0"/>
          </a:p>
        </p:txBody>
      </p:sp>
      <p:graphicFrame>
        <p:nvGraphicFramePr>
          <p:cNvPr id="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5111496"/>
          <a:ext cx="681228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731520"/>
                <a:gridCol w="914400"/>
                <a:gridCol w="365760"/>
                <a:gridCol w="548640"/>
                <a:gridCol w="822960"/>
                <a:gridCol w="914400"/>
                <a:gridCol w="457200"/>
                <a:gridCol w="411480"/>
                <a:gridCol w="1280160"/>
              </a:tblGrid>
              <a:tr h="1298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ID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Name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Sales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1298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CUST9510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Customer_345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Kolkata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867,333.24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Value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8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CUST6845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Customer_337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769,479.75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Value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8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CUST6532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Customer_348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610,981.74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Value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8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CUST6082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Customer_301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548,416.39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Value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8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CUST3689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Customer_179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Delhi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542,484.08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Value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8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CUST3730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Customer_273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538,633.97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Value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8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CUST4706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Customer_34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Delhi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528,036.44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Value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8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CUST9693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Customer_343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Patna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511,421.86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Value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8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CUST7374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Customer_375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Patna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511,309.40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Value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8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CUST2062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Customer_254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Patna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493,677.50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Value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9" name="Shape 38"/>
          <p:cNvSpPr/>
          <p:nvPr/>
        </p:nvSpPr>
        <p:spPr>
          <a:xfrm>
            <a:off x="7223760" y="4882896"/>
            <a:ext cx="4736592" cy="1719072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6350">
            <a:solidFill>
              <a:srgbClr val="E3E9F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50" name="Text 39"/>
          <p:cNvSpPr txBox="1"/>
          <p:nvPr/>
        </p:nvSpPr>
        <p:spPr>
          <a:xfrm>
            <a:off x="7296912" y="4910328"/>
            <a:ext cx="4590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Insights &amp; Recommendations</a:t>
            </a:r>
            <a:endParaRPr lang="en-US" sz="950" dirty="0"/>
          </a:p>
        </p:txBody>
      </p:sp>
      <p:sp>
        <p:nvSpPr>
          <p:cNvPr id="51" name="Text 40"/>
          <p:cNvSpPr txBox="1"/>
          <p:nvPr/>
        </p:nvSpPr>
        <p:spPr>
          <a:xfrm>
            <a:off x="7296912" y="512064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800" dirty="0"/>
          </a:p>
        </p:txBody>
      </p:sp>
      <p:sp>
        <p:nvSpPr>
          <p:cNvPr id="52" name="Text 41"/>
          <p:cNvSpPr txBox="1"/>
          <p:nvPr/>
        </p:nvSpPr>
        <p:spPr>
          <a:xfrm>
            <a:off x="7296912" y="5276088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68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Value: 55.27% of sales from about one quarter of customers.</a:t>
            </a:r>
            <a:endParaRPr lang="en-US" sz="68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68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leads with 36.43% of sales.</a:t>
            </a:r>
            <a:endParaRPr lang="en-US" sz="68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68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Patna leads total city sales.</a:t>
            </a:r>
            <a:endParaRPr lang="en-US" sz="68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68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has the highest sales per customer.</a:t>
            </a:r>
            <a:endParaRPr lang="en-US" sz="68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68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2025 is the strongest full month.</a:t>
            </a:r>
            <a:endParaRPr lang="en-US" sz="68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68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Value: about one quarter of customers, only about 4% of sales.</a:t>
            </a:r>
            <a:endParaRPr lang="en-US" sz="680" dirty="0"/>
          </a:p>
        </p:txBody>
      </p:sp>
      <p:sp>
        <p:nvSpPr>
          <p:cNvPr id="53" name="Text 42"/>
          <p:cNvSpPr txBox="1"/>
          <p:nvPr/>
        </p:nvSpPr>
        <p:spPr>
          <a:xfrm>
            <a:off x="9646920" y="512064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800" dirty="0"/>
          </a:p>
        </p:txBody>
      </p:sp>
      <p:sp>
        <p:nvSpPr>
          <p:cNvPr id="54" name="Text 43"/>
          <p:cNvSpPr txBox="1"/>
          <p:nvPr/>
        </p:nvSpPr>
        <p:spPr>
          <a:xfrm>
            <a:off x="9646920" y="5276088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68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and retain High Value customers.</a:t>
            </a:r>
            <a:endParaRPr lang="en-US" sz="68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68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suitable Low Value customers via targeted offers, cross-selling and upselling.</a:t>
            </a:r>
            <a:endParaRPr lang="en-US" sz="68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68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Electronics closely.</a:t>
            </a:r>
            <a:endParaRPr lang="en-US" sz="68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68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cities on total sales and sales per customer.</a:t>
            </a:r>
            <a:endParaRPr lang="en-US" sz="68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68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monthly sales fluctuations.</a:t>
            </a:r>
            <a:endParaRPr lang="en-US" sz="68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68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repeated Order IDs before order-level reporting.</a:t>
            </a:r>
            <a:endParaRPr lang="en-US" sz="680" dirty="0"/>
          </a:p>
        </p:txBody>
      </p:sp>
      <p:sp>
        <p:nvSpPr>
          <p:cNvPr id="55" name="Shape 44"/>
          <p:cNvSpPr/>
          <p:nvPr/>
        </p:nvSpPr>
        <p:spPr>
          <a:xfrm>
            <a:off x="7296912" y="6254496"/>
            <a:ext cx="4590288" cy="0"/>
          </a:xfrm>
          <a:prstGeom prst="line">
            <a:avLst/>
          </a:prstGeom>
          <a:noFill/>
          <a:ln w="6350">
            <a:solidFill>
              <a:srgbClr val="E3E9F1"/>
            </a:solidFill>
            <a:prstDash val="solid"/>
          </a:ln>
        </p:spPr>
      </p:sp>
      <p:sp>
        <p:nvSpPr>
          <p:cNvPr id="56" name="Text 45"/>
          <p:cNvSpPr txBox="1"/>
          <p:nvPr/>
        </p:nvSpPr>
        <p:spPr>
          <a:xfrm>
            <a:off x="7296912" y="6272784"/>
            <a:ext cx="4590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quality: </a:t>
            </a:r>
            <a:pPr indent="0" marL="0">
              <a:buNone/>
            </a:pPr>
            <a:r>
              <a:rPr lang="en-US" sz="6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rows | 947 unique customers | 992 unique Order IDs | 8 repeated Order ID records. Repeated IDs are not merged automatically because some belong to different customers, dates and/or products.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91440"/>
            <a:ext cx="11731752" cy="502920"/>
          </a:xfrm>
          <a:prstGeom prst="roundRect">
            <a:avLst>
              <a:gd name="adj" fmla="val 10909"/>
            </a:avLst>
          </a:prstGeom>
          <a:solidFill>
            <a:srgbClr val="16355F"/>
          </a:solidFill>
          <a:ln w="12700">
            <a:solidFill>
              <a:srgbClr val="1635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Deep Dive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Value | Medium Value | Low Value - customer share vs revenue share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686800" y="914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INTERNSHIP | TASK 3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228600" y="731520"/>
            <a:ext cx="576072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6350">
            <a:solidFill>
              <a:srgbClr val="E3E9F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301752" y="758952"/>
            <a:ext cx="5614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Share vs Sales Share (%)</a:t>
            </a:r>
            <a:endParaRPr lang="en-US" sz="9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987552"/>
          <a:ext cx="5669280" cy="29992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080760" y="731520"/>
            <a:ext cx="5879592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6350">
            <a:solidFill>
              <a:srgbClr val="E3E9F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153912" y="758952"/>
            <a:ext cx="5733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Summary</a:t>
            </a:r>
            <a:endParaRPr lang="en-US" sz="9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024128"/>
          <a:ext cx="569671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280160"/>
                <a:gridCol w="1280160"/>
                <a:gridCol w="130759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2,082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2286000"/>
          <a:ext cx="569671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554480"/>
                <a:gridCol w="1554480"/>
                <a:gridCol w="112471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Sales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Order 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77,048,925.29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296,265.28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55.27%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56,722,617.47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117,155.35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40.69%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5,627,896.89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23,676.47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228600" y="4114800"/>
            <a:ext cx="5760720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6350">
            <a:solidFill>
              <a:srgbClr val="E3E9F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Text 8"/>
          <p:cNvSpPr txBox="1"/>
          <p:nvPr/>
        </p:nvSpPr>
        <p:spPr>
          <a:xfrm>
            <a:off x="301752" y="4142232"/>
            <a:ext cx="5614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concentration</a:t>
            </a:r>
            <a:endParaRPr lang="en-US" sz="950" dirty="0"/>
          </a:p>
        </p:txBody>
      </p:sp>
      <p:sp>
        <p:nvSpPr>
          <p:cNvPr id="14" name="Text 9"/>
          <p:cNvSpPr txBox="1"/>
          <p:nvPr/>
        </p:nvSpPr>
        <p:spPr>
          <a:xfrm>
            <a:off x="338328" y="4407408"/>
            <a:ext cx="55412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Value customers are about 25% of customers (237 of 947) but contribute 55.27% of total sales.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Value customers are also about 25% of customers but contribute only about 4% of sales (4.04%).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Value is the largest group by customers (473, 49.95%) and contributes 40.69% of sales.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6080760" y="4114800"/>
            <a:ext cx="5879592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6350">
            <a:solidFill>
              <a:srgbClr val="E3E9F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6" name="Text 11"/>
          <p:cNvSpPr txBox="1"/>
          <p:nvPr/>
        </p:nvSpPr>
        <p:spPr>
          <a:xfrm>
            <a:off x="6153912" y="4142232"/>
            <a:ext cx="5733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x Gender (customers)</a:t>
            </a:r>
            <a:endParaRPr lang="en-US" sz="95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4434840"/>
          <a:ext cx="569671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645920"/>
                <a:gridCol w="167335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2"/>
          <p:cNvSpPr txBox="1"/>
          <p:nvPr/>
        </p:nvSpPr>
        <p:spPr>
          <a:xfrm>
            <a:off x="6172200" y="56692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only. No conclusions are drawn from gender differences.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91440"/>
            <a:ext cx="11731752" cy="502920"/>
          </a:xfrm>
          <a:prstGeom prst="roundRect">
            <a:avLst>
              <a:gd name="adj" fmla="val 10909"/>
            </a:avLst>
          </a:prstGeom>
          <a:solidFill>
            <a:srgbClr val="16355F"/>
          </a:solidFill>
          <a:ln w="12700">
            <a:solidFill>
              <a:srgbClr val="1635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Trend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2025 is the highest full month | September 2025 the lowest | January 2026 is a partial period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686800" y="914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INTERNSHIP | TASK 3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228600" y="731520"/>
            <a:ext cx="11731752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E3E9F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301752" y="758952"/>
            <a:ext cx="11585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(green = highest full month, red = lowest full month, orange = partial period)</a:t>
            </a:r>
            <a:endParaRPr lang="en-US" sz="9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987552"/>
          <a:ext cx="11640312" cy="2441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228600" y="3566160"/>
            <a:ext cx="758952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6350">
            <a:solidFill>
              <a:srgbClr val="E3E9F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301752" y="3593592"/>
            <a:ext cx="7443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by Segment (stacked)</a:t>
            </a:r>
            <a:endParaRPr lang="en-US" sz="95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274320" y="3822192"/>
          <a:ext cx="74980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7909560" y="3566160"/>
            <a:ext cx="4050792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6350">
            <a:solidFill>
              <a:srgbClr val="E3E9F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7982712" y="3593592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trend</a:t>
            </a:r>
            <a:endParaRPr lang="en-US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8019288" y="3858768"/>
            <a:ext cx="383133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full month: Mar 2025 (13,059,899.94).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full month: Sep 2025 (9,179,896.29).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2026 (809,389.99) covers only the final day of the dataset and must not be compared with full months.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monthly fluctuations rather than single-month movements.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91440"/>
            <a:ext cx="11731752" cy="502920"/>
          </a:xfrm>
          <a:prstGeom prst="roundRect">
            <a:avLst>
              <a:gd name="adj" fmla="val 10909"/>
            </a:avLst>
          </a:prstGeom>
          <a:solidFill>
            <a:srgbClr val="16355F"/>
          </a:solidFill>
          <a:ln w="12700">
            <a:solidFill>
              <a:srgbClr val="1635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Performance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and sales per customer are different business metrics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686800" y="914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INTERNSHIP | TASK 3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228600" y="731520"/>
            <a:ext cx="576072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6350">
            <a:solidFill>
              <a:srgbClr val="E3E9F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301752" y="758952"/>
            <a:ext cx="5614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by City (Patna highest) - millions</a:t>
            </a:r>
            <a:endParaRPr lang="en-US" sz="9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987552"/>
          <a:ext cx="5669280" cy="253288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080760" y="731520"/>
            <a:ext cx="5879592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6350">
            <a:solidFill>
              <a:srgbClr val="E3E9F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153912" y="758952"/>
            <a:ext cx="5733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 Customer by City (Bengaluru highest)</a:t>
            </a:r>
            <a:endParaRPr lang="en-US" sz="95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126480" y="987552"/>
          <a:ext cx="5788152" cy="253288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228600" y="3657600"/>
            <a:ext cx="11731752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6350">
            <a:solidFill>
              <a:srgbClr val="E3E9F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301752" y="3685032"/>
            <a:ext cx="11585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Table</a:t>
            </a:r>
            <a:endParaRPr lang="en-US" sz="9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931920"/>
          <a:ext cx="115488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1554480"/>
                <a:gridCol w="1554480"/>
                <a:gridCol w="1737360"/>
                <a:gridCol w="2313432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Sales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per Customer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Patna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19,285,966.89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143,925.13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Kolkata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18,884,349.57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143,063.25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Bengaluru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18,773,574.32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156,446.45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18,757,050.17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144,285.00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17,166,766.87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137,334.13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Delhi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16,097,079.00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129,815.15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14,513,175.90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146,597.74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Gaya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14,380,859.39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122,913.33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1,540,617.54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118,509.04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91440"/>
            <a:ext cx="11731752" cy="502920"/>
          </a:xfrm>
          <a:prstGeom prst="roundRect">
            <a:avLst>
              <a:gd name="adj" fmla="val 10909"/>
            </a:avLst>
          </a:prstGeom>
          <a:solidFill>
            <a:srgbClr val="16355F"/>
          </a:solidFill>
          <a:ln w="12700">
            <a:solidFill>
              <a:srgbClr val="1635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&amp; Product Performance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is the leading category with 36.43% of total sales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686800" y="914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INTERNSHIP | TASK 3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228600" y="731520"/>
            <a:ext cx="576072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6350">
            <a:solidFill>
              <a:srgbClr val="E3E9F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301752" y="758952"/>
            <a:ext cx="5614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Category - millions (Electronics highlighted)</a:t>
            </a:r>
            <a:endParaRPr lang="en-US" sz="9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987552"/>
          <a:ext cx="5669280" cy="23500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080760" y="731520"/>
            <a:ext cx="5879592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6350">
            <a:solidFill>
              <a:srgbClr val="E3E9F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153912" y="758952"/>
            <a:ext cx="5733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Product - millions (High to Low)</a:t>
            </a:r>
            <a:endParaRPr lang="en-US" sz="95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126480" y="987552"/>
          <a:ext cx="5788152" cy="23500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228600" y="3474720"/>
            <a:ext cx="576072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6350">
            <a:solidFill>
              <a:srgbClr val="E3E9F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301752" y="3502152"/>
            <a:ext cx="5614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Table</a:t>
            </a:r>
            <a:endParaRPr lang="en-US" sz="9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94760"/>
          <a:ext cx="55778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463040"/>
                <a:gridCol w="822960"/>
                <a:gridCol w="731520"/>
                <a:gridCol w="13716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Sales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50,778,581.70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1,978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36.43%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25,031,689.40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17.96%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Grocery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22,231,711.28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15.95%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Furniture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21,521,561.48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15.44%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Fashion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19,835,895.79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14.23%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080760" y="3474720"/>
            <a:ext cx="5879592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6350">
            <a:solidFill>
              <a:srgbClr val="E3E9F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5" name="Text 10"/>
          <p:cNvSpPr txBox="1"/>
          <p:nvPr/>
        </p:nvSpPr>
        <p:spPr>
          <a:xfrm>
            <a:off x="6153912" y="3502152"/>
            <a:ext cx="5733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Table</a:t>
            </a:r>
            <a:endParaRPr lang="en-US" sz="9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3794760"/>
          <a:ext cx="569671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554480"/>
                <a:gridCol w="822960"/>
                <a:gridCol w="731520"/>
                <a:gridCol w="139903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Sales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Laptop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25,443,008.51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25,335,573.19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18.17%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25,031,689.40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17.96%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22,231,711.28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15.95%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21,521,561.48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15.44%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19,835,895.79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14.23%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91440"/>
            <a:ext cx="11731752" cy="502920"/>
          </a:xfrm>
          <a:prstGeom prst="roundRect">
            <a:avLst>
              <a:gd name="adj" fmla="val 10909"/>
            </a:avLst>
          </a:prstGeom>
          <a:solidFill>
            <a:srgbClr val="16355F"/>
          </a:solidFill>
          <a:ln w="12700">
            <a:solidFill>
              <a:srgbClr val="1635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&amp; Product Mix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customers by total sales and Segment x Product sales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686800" y="914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INTERNSHIP | TASK 3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228600" y="731520"/>
            <a:ext cx="11731752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6350">
            <a:solidFill>
              <a:srgbClr val="E3E9F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301752" y="758952"/>
            <a:ext cx="11585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Customers</a:t>
            </a:r>
            <a:endParaRPr lang="en-US" sz="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05840"/>
          <a:ext cx="1154887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280160"/>
                <a:gridCol w="1554480"/>
                <a:gridCol w="640080"/>
                <a:gridCol w="914400"/>
                <a:gridCol w="1280160"/>
                <a:gridCol w="1645920"/>
                <a:gridCol w="822960"/>
                <a:gridCol w="822960"/>
                <a:gridCol w="1947672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Sales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CUST9510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Customer_345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Kolkata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867,333.24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CUST6845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Customer_337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769,479.75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CUST6532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Customer_348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610,981.74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CUST6082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Customer_301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548,416.39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CUST3689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Customer_179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Delhi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542,484.08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CUST3730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Customer_273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538,633.97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CUST4706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Customer_34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Delhi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528,036.44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CUST9693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Customer_343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Patna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511,421.86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CUST7374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Customer_375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Patna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511,309.40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CUST2062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Customer_254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Patna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493,677.50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28600" y="4389120"/>
            <a:ext cx="676656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3E9F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301752" y="4416552"/>
            <a:ext cx="6620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x Product (Sales) - darker = higher</a:t>
            </a:r>
            <a:endParaRPr lang="en-US" sz="95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63440"/>
          <a:ext cx="65836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828800"/>
                <a:gridCol w="1828800"/>
                <a:gridCol w="1828800"/>
              </a:tblGrid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4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13,490,462.28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6DA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10,620,090.60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88B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921,136.52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5E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12,011,083.02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7BA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8,667,797.67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9BB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842,680.79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5E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Laptop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15,828,557.45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79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8,584,864.35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9CB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1,029,586.71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ED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12,852,622.60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73A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11,503,691.71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0A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979,258.88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ED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13,654,685.92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6C9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7,715,683.58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A4C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861,341.78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5E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9,211,514.02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96B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9,630,489.56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92B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993,892.21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ED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7086600" y="4389120"/>
            <a:ext cx="4873752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3E9F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7159752" y="4416552"/>
            <a:ext cx="4727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7196328" y="4681728"/>
            <a:ext cx="46542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top 10 customers are High Value.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customer: CUST9510 (Kolkata) with 867,333.24.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and Mobile are the two highest-selling products, each above 25 million.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91440"/>
            <a:ext cx="11731752" cy="502920"/>
          </a:xfrm>
          <a:prstGeom prst="roundRect">
            <a:avLst>
              <a:gd name="adj" fmla="val 10909"/>
            </a:avLst>
          </a:prstGeom>
          <a:solidFill>
            <a:srgbClr val="16355F"/>
          </a:solidFill>
          <a:ln w="12700">
            <a:solidFill>
              <a:srgbClr val="1635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Insights, Recommendations &amp; Data Quality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against the Task 3 analysis files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686800" y="914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INTERNSHIP | TASK 3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228600" y="731520"/>
            <a:ext cx="576072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6350">
            <a:solidFill>
              <a:srgbClr val="E3E9F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301752" y="758952"/>
            <a:ext cx="5614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38328" y="1024128"/>
            <a:ext cx="554126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Value customers contribute 55.27% of total sales while representing approximately one quarter of the customer base.</a:t>
            </a:r>
            <a:endParaRPr lang="en-US" sz="11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is the leading category with 36.43% of total sales.</a:t>
            </a:r>
            <a:endParaRPr lang="en-US" sz="11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Patna leads total city sales.</a:t>
            </a:r>
            <a:endParaRPr lang="en-US" sz="11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has the highest sales per customer.</a:t>
            </a:r>
            <a:endParaRPr lang="en-US" sz="11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2025 is the strongest full month in the analysis period.</a:t>
            </a:r>
            <a:endParaRPr lang="en-US" sz="11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Value customers represent approximately one quarter of customers but contribute only around 4% of sales.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80760" y="731520"/>
            <a:ext cx="5879592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6350">
            <a:solidFill>
              <a:srgbClr val="E3E9F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153912" y="758952"/>
            <a:ext cx="5733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190488" y="1024128"/>
            <a:ext cx="566013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and retain High Value customers.</a:t>
            </a:r>
            <a:endParaRPr lang="en-US" sz="11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suitable Low Value customers through targeted offers, cross-selling and upselling.</a:t>
            </a:r>
            <a:endParaRPr lang="en-US" sz="11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Electronics performance closely.</a:t>
            </a:r>
            <a:endParaRPr lang="en-US" sz="11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city performance using both total sales and sales per customer.</a:t>
            </a:r>
            <a:endParaRPr lang="en-US" sz="11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monthly sales fluctuations.</a:t>
            </a:r>
            <a:endParaRPr lang="en-US" sz="11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repeated Order IDs before operational order-level reporting.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4023360"/>
            <a:ext cx="11731752" cy="256032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6350">
            <a:solidFill>
              <a:srgbClr val="E3E9F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01752" y="4050792"/>
            <a:ext cx="11585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365760" y="4389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Rows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" y="4617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3246120" y="4389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3246120" y="4617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947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4389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Order IDs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4617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992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9006840" y="4389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Order ID Records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9006840" y="4617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365760" y="534924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Order IDs were identified in the source data and should not automatically be merged because some repeated IDs are associated with different customers, dates and/or products.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365760" y="612648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ApexPlanet_Cleaned_Dataset.xlsx and Task 3 analysis files. Period: 1 Jan 2025 - 1 Jan 2026.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ApexPlanet Task 3 - Customer Segmentation &amp; Business Intelligence Dashboard</dc:title>
  <dc:subject>PptxGenJS Presentation</dc:subject>
  <dc:creator>PptxGenJS</dc:creator>
  <cp:lastModifiedBy>PptxGenJS</cp:lastModifiedBy>
  <cp:revision>1</cp:revision>
  <dcterms:created xsi:type="dcterms:W3CDTF">2026-10-04T12:59:43Z</dcterms:created>
  <dcterms:modified xsi:type="dcterms:W3CDTF">2026-10-04T12:59:43Z</dcterms:modified>
</cp:coreProperties>
</file>